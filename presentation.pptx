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274934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232071" y="0"/>
            <a:ext cx="42863" cy="5143500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3677"/>
            <a:ext cx="41148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150" b="1" spc="-1" kern="0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FEDAI: FROM PASSIVE EVALUATION TO ACTIVE RELIABILITY</a:t>
            </a:r>
            <a:endParaRPr lang="en-US" sz="4150" dirty="0"/>
          </a:p>
        </p:txBody>
      </p:sp>
      <p:sp>
        <p:nvSpPr>
          <p:cNvPr id="6" name="Text 3"/>
          <p:cNvSpPr/>
          <p:nvPr/>
        </p:nvSpPr>
        <p:spPr>
          <a:xfrm>
            <a:off x="571500" y="3931239"/>
            <a:ext cx="4114800" cy="9600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How Golden Datasets + Reflection Transform AI Quality Assurance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57800" y="0"/>
            <a:ext cx="3886200" cy="5143500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8" name="Shape 5"/>
          <p:cNvSpPr/>
          <p:nvPr/>
        </p:nvSpPr>
        <p:spPr>
          <a:xfrm>
            <a:off x="5829300" y="1214438"/>
            <a:ext cx="2743200" cy="2714625"/>
          </a:xfrm>
          <a:prstGeom prst="rect">
            <a:avLst/>
          </a:prstGeom>
          <a:solidFill>
            <a:srgbClr val="E63946"/>
          </a:solidFill>
          <a:ln w="45720">
            <a:solidFill>
              <a:srgbClr val="E8EC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15050" y="1543050"/>
            <a:ext cx="21717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"DON'T JUST MEASURE FAILURES. FIX THEM BEFORE USERS SEE THEM."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144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71563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LLM ANSWERS FAST BUT MISSES CRITICAL DETAILS — AND WITHOUT EVALUATION, NOBODY CATCHES IT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250156"/>
            <a:ext cx="4032452" cy="767953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5781" y="1335881"/>
            <a:ext cx="381813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F364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DEVELOPER QUESTION TO RAG SYSTEM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5781" y="1510903"/>
            <a:ext cx="381813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"How do I authenticate with our internal payments API?"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8625" y="2068116"/>
            <a:ext cx="4032452" cy="1224428"/>
          </a:xfrm>
          <a:prstGeom prst="rect">
            <a:avLst/>
          </a:prstGeom>
          <a:solidFill>
            <a:srgbClr val="0B0C10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213" y="2196703"/>
            <a:ext cx="3775277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LLM OUTPUT (SINGLE-PASS, NO EVALUATION)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7213" y="2414588"/>
            <a:ext cx="3775277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"Use a Bearer token in the Authorization header to authenticate with the payments API."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7213" y="2888921"/>
            <a:ext cx="1060791" cy="189309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557213" y="2888921"/>
            <a:ext cx="1060791" cy="18930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SCORE: 0.5 / 1.0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75439" y="1250156"/>
            <a:ext cx="3639936" cy="1518047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82595" y="1357313"/>
            <a:ext cx="342562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GOLDEN DATASET (GROUND TRUTH)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182595" y="1575197"/>
            <a:ext cx="342562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"Use Bearer token in the Authorization header.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7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Token must be refreshed every 15 minutes via </a:t>
            </a:r>
            <a:r>
              <a:rPr lang="en-US" sz="7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/auth/refresh endpoint.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7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Include X-Request-ID header for traceability.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75439" y="2818209"/>
            <a:ext cx="3639936" cy="1132284"/>
          </a:xfrm>
          <a:prstGeom prst="rect">
            <a:avLst/>
          </a:prstGeom>
          <a:solidFill>
            <a:srgbClr val="0B0C10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82595" y="2925366"/>
            <a:ext cx="342562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RUBRIC CRITERIA (HOW THE JUDGE SCORES)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82595" y="3143250"/>
            <a:ext cx="342562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Authentication method mentioned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82595" y="3357563"/>
            <a:ext cx="342562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Token refresh policy included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82595" y="3571875"/>
            <a:ext cx="3425623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Traceability header documented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075439" y="4000500"/>
            <a:ext cx="3639936" cy="23395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Incomplete answers erode developer trust and RAG adoption.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815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338672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89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9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FEDAI CATCHES THE GAP, GENERATES SPECIFIC INSTRUCTIONS, AND CORRECTS THE OUTPUT BEFORE THE DEVELOPER SEES IT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28625" y="1445828"/>
            <a:ext cx="4482536" cy="821531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4350" y="1502978"/>
            <a:ext cx="171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1525" y="1502978"/>
            <a:ext cx="4053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F364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VLLM_JUDGE CRITIQUE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1525" y="1703003"/>
            <a:ext cx="38254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"Output is partially correct but INCOMPLETE. Missing: (a) token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71525" y="1853022"/>
            <a:ext cx="333970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refresh requirement via /auth/refresh, (b) X-Request-ID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71525" y="2003041"/>
            <a:ext cx="127515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traceability header."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28625" y="2253072"/>
            <a:ext cx="4482536" cy="821531"/>
          </a:xfrm>
          <a:prstGeom prst="rect">
            <a:avLst/>
          </a:prstGeom>
          <a:solidFill>
            <a:srgbClr val="0B0C10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4350" y="2310222"/>
            <a:ext cx="1714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1525" y="2310222"/>
            <a:ext cx="40539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TRANSFORMED INSTRUCTIONS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1525" y="2510247"/>
            <a:ext cx="321825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"Add the 15-minute token refresh requirement with the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71525" y="2660266"/>
            <a:ext cx="38254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/auth/refresh endpoint. Add the X-Request-ID header requirement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71525" y="2810284"/>
            <a:ext cx="182165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 transaction traceability."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28625" y="3060316"/>
            <a:ext cx="4482536" cy="1824000"/>
          </a:xfrm>
          <a:prstGeom prst="rect">
            <a:avLst/>
          </a:prstGeom>
          <a:solidFill>
            <a:srgbClr val="0B0C10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0063" y="3131753"/>
            <a:ext cx="433966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CORRECTED OUTPUT (AFTER REFLECTION)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0063" y="3321062"/>
            <a:ext cx="4339661" cy="11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"Use a Bearer token in the Authorization header.</a:t>
            </a: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700" b="1" dirty="0">
                <a:solidFill>
                  <a:srgbClr val="4CAF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Token must be refreshed every 15 minutes via the /auth/refresh </a:t>
            </a:r>
            <a:r>
              <a:rPr lang="en-US" sz="700" b="1" dirty="0">
                <a:solidFill>
                  <a:srgbClr val="4CAF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endpoint.</a:t>
            </a: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700" b="1" dirty="0">
                <a:solidFill>
                  <a:srgbClr val="4CAF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Include X-Request-ID header in every request for transaction </a:t>
            </a:r>
            <a:r>
              <a:rPr lang="en-US" sz="700" b="1" dirty="0">
                <a:solidFill>
                  <a:srgbClr val="4CAF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traceability.</a:t>
            </a:r>
            <a:r>
              <a:rPr lang="en-US" sz="7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00063" y="4568205"/>
            <a:ext cx="759749" cy="1589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19"/>
          <p:cNvSpPr/>
          <p:nvPr/>
        </p:nvSpPr>
        <p:spPr>
          <a:xfrm>
            <a:off x="500063" y="4568205"/>
            <a:ext cx="759749" cy="158948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BEFORE: 0.5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366968" y="4568205"/>
            <a:ext cx="731983" cy="1589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1"/>
          <p:cNvSpPr/>
          <p:nvPr/>
        </p:nvSpPr>
        <p:spPr>
          <a:xfrm>
            <a:off x="1366968" y="4568205"/>
            <a:ext cx="731983" cy="158948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AFTER: 0.91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206107" y="4578921"/>
            <a:ext cx="4572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CAF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ACCEPTED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382648" y="1445828"/>
            <a:ext cx="347557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4-STEP PIPELINE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382648" y="1681572"/>
            <a:ext cx="1709198" cy="746522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82648" y="1681572"/>
            <a:ext cx="1709198" cy="74652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GENERATE: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LLM produces 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initial answer from 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RAG context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48996" y="1681572"/>
            <a:ext cx="1709226" cy="746522"/>
          </a:xfrm>
          <a:prstGeom prst="rect">
            <a:avLst/>
          </a:prstGeom>
          <a:solidFill>
            <a:srgbClr val="0B0C10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48996" y="1681572"/>
            <a:ext cx="1709226" cy="74652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EVALUATE: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vllm_judge 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scores against Golden 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Dataset rubric 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(temp=0)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382648" y="2278075"/>
            <a:ext cx="1709198" cy="746522"/>
          </a:xfrm>
          <a:prstGeom prst="rect">
            <a:avLst/>
          </a:prstGeom>
          <a:solidFill>
            <a:srgbClr val="0B0C10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82648" y="2278075"/>
            <a:ext cx="1709198" cy="74652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TRANSFORM: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Critique 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explanation → specific 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correction 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instructions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148996" y="2278075"/>
            <a:ext cx="1709226" cy="596503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48996" y="2278075"/>
            <a:ext cx="1709226" cy="59650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REGENERATE: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LLM 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retries with original </a:t>
            </a:r>
            <a:r>
              <a:rPr lang="en-US" sz="8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output + instructions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5382648" y="2874578"/>
            <a:ext cx="3475574" cy="446484"/>
          </a:xfrm>
          <a:prstGeom prst="rect">
            <a:avLst/>
          </a:prstGeom>
          <a:solidFill>
            <a:srgbClr val="0B0C10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82648" y="2874578"/>
            <a:ext cx="3475574" cy="44648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GATE: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Re-score. Accept only if improved. </a:t>
            </a: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Otherwise serve original.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382648" y="3349637"/>
            <a:ext cx="3475574" cy="771525"/>
          </a:xfrm>
          <a:prstGeom prst="rect">
            <a:avLst/>
          </a:prstGeom>
          <a:solidFill>
            <a:srgbClr val="E8ECEF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82648" y="3349637"/>
            <a:ext cx="3475574" cy="77152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Key: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The Golden Dataset defined that a complete answer 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MUST include: (1) auth method, (2) refresh policy, (3) 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traceability header. Without this ground truth, the 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judge has nothing to score against.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88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45834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ONE REFLECTION PASS INCREASES ACCURACY FROM 87% TO 95% — AT ONLY 1.3X AVERAGE COST PER QUERY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28625" y="1260146"/>
            <a:ext cx="3571875" cy="2000250"/>
          </a:xfrm>
          <a:prstGeom prst="rect">
            <a:avLst/>
          </a:prstGeom>
          <a:solidFill>
            <a:srgbClr val="FFFFFF"/>
          </a:solidFill>
          <a:ln w="45720">
            <a:solidFill>
              <a:srgbClr val="0B0C1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60146"/>
            <a:ext cx="3571875" cy="20002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8625" y="3438990"/>
            <a:ext cx="3597046" cy="1543050"/>
          </a:xfrm>
          <a:prstGeom prst="rect">
            <a:avLst/>
          </a:prstGeom>
          <a:solidFill>
            <a:srgbClr val="0B0C10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1500" y="3581865"/>
            <a:ext cx="331129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OUTCOME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71500" y="3817609"/>
            <a:ext cx="3311296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Andrew Ng's research shows three performance curves. Our architecture sits on the top curve (Reflection with external feedback) because the Golden Dataset provides the objective signal. We hard-cap at one pass because the economics are clear: one reflection is worth it; ten are not.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640033" y="1260146"/>
            <a:ext cx="4075342" cy="851529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82908" y="1367303"/>
            <a:ext cx="257175" cy="257175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13" name="Text 9"/>
          <p:cNvSpPr/>
          <p:nvPr/>
        </p:nvSpPr>
        <p:spPr>
          <a:xfrm>
            <a:off x="4782908" y="136730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147239" y="1385162"/>
            <a:ext cx="11264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ACCURACY JUMP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147239" y="1613399"/>
            <a:ext cx="317182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Andrew Ng's team observed accuracy increase from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147239" y="1763418"/>
            <a:ext cx="310574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87% to 95% with reflection + external feedback.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40033" y="2068813"/>
            <a:ext cx="4075342" cy="1001548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82908" y="2175970"/>
            <a:ext cx="257175" cy="257175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19" name="Text 15"/>
          <p:cNvSpPr/>
          <p:nvPr/>
        </p:nvSpPr>
        <p:spPr>
          <a:xfrm>
            <a:off x="4782908" y="217597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147239" y="2193829"/>
            <a:ext cx="11191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COST &amp; LATENCY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147239" y="2422066"/>
            <a:ext cx="330398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Only 10-30% of queries trigger reflection. Average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147239" y="2572085"/>
            <a:ext cx="330398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cost is 1.3x (not 5x). P95 latency remains under 5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147239" y="2722104"/>
            <a:ext cx="52863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seconds.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4640033" y="3027499"/>
            <a:ext cx="4075342" cy="851529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782908" y="3134655"/>
            <a:ext cx="257175" cy="257175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26" name="Text 22"/>
          <p:cNvSpPr/>
          <p:nvPr/>
        </p:nvSpPr>
        <p:spPr>
          <a:xfrm>
            <a:off x="4782908" y="313465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147239" y="3152515"/>
            <a:ext cx="2150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OVER-CORRECTION PROTECTION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147239" y="3380752"/>
            <a:ext cx="317182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"Accept-Only-If-Better" gate keeps the over-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147239" y="3530771"/>
            <a:ext cx="165199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correction rate below 5%.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640033" y="3836166"/>
            <a:ext cx="4075342" cy="1001548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782908" y="3943322"/>
            <a:ext cx="257175" cy="257175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32" name="Text 28"/>
          <p:cNvSpPr/>
          <p:nvPr/>
        </p:nvSpPr>
        <p:spPr>
          <a:xfrm>
            <a:off x="4782908" y="3943322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147239" y="3961181"/>
            <a:ext cx="75012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PROOF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147239" y="4189419"/>
            <a:ext cx="323790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Used in production at Zalando, documented by AWS,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147239" y="4339437"/>
            <a:ext cx="303966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and codified by O'Reilly (Generative AI Design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147239" y="4489456"/>
            <a:ext cx="105727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B0C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Patterns, 2025).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8713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BOUNDED, DETERMINISTIC FEEDBACK LOOP — NOT AN AUTONOMOUS AGENT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271588"/>
            <a:ext cx="4729163" cy="3106024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2913" y="1285875"/>
            <a:ext cx="1134349" cy="471488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913" y="1285875"/>
            <a:ext cx="1134349" cy="471488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PROPERTY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72602" y="1285875"/>
            <a:ext cx="1521144" cy="471488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72602" y="1285875"/>
            <a:ext cx="1521144" cy="4714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AUTONOMOUS AGENT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81133" y="1285875"/>
            <a:ext cx="2062367" cy="457200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81133" y="1285875"/>
            <a:ext cx="2062367" cy="4572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FEDAI REFLECTION LOOP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2913" y="1728788"/>
            <a:ext cx="1129605" cy="462893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2913" y="1728788"/>
            <a:ext cx="1129605" cy="46289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PLANNING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72518" y="1728788"/>
            <a:ext cx="1500439" cy="46289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Open-ended, multi-step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072957" y="1728788"/>
            <a:ext cx="2070543" cy="46289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None (fixed evaluate → refine)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42913" y="2191680"/>
            <a:ext cx="1129605" cy="462893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2913" y="2191680"/>
            <a:ext cx="1129605" cy="46289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TOOL USE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72518" y="2191680"/>
            <a:ext cx="1500439" cy="46289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Dynamic tool selection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072957" y="2191680"/>
            <a:ext cx="2070543" cy="46289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 tools (only LLM calls)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42913" y="2654573"/>
            <a:ext cx="1129605" cy="502909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913" y="2654573"/>
            <a:ext cx="1129605" cy="50290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ITERATION LIMIT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572518" y="2654573"/>
            <a:ext cx="1500439" cy="48862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Unbounded (10+)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072957" y="2654573"/>
            <a:ext cx="2070543" cy="48862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Hard-capped at 1 retry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42913" y="3143194"/>
            <a:ext cx="1129605" cy="502909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2913" y="3143194"/>
            <a:ext cx="1129605" cy="50290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EXECUTION PATH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564677" y="3128907"/>
            <a:ext cx="1502392" cy="48862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Non-deterministic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67069" y="3128907"/>
            <a:ext cx="2076431" cy="48862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Deterministic (temp=0, fixed rubric)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42913" y="3617528"/>
            <a:ext cx="1121764" cy="322892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2913" y="3617528"/>
            <a:ext cx="1121764" cy="3228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COST PROFILE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564677" y="3603241"/>
            <a:ext cx="1502392" cy="30860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$5-8 per task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067069" y="3603241"/>
            <a:ext cx="2076431" cy="30860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~1.3x single inference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42913" y="3911845"/>
            <a:ext cx="1121764" cy="322892"/>
          </a:xfrm>
          <a:prstGeom prst="rect">
            <a:avLst/>
          </a:prstGeom>
          <a:solidFill>
            <a:srgbClr val="0B0C1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2913" y="3911845"/>
            <a:ext cx="1121764" cy="3228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LATENCY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552370" y="3906124"/>
            <a:ext cx="1505462" cy="30288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10-60 seconds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057832" y="3906124"/>
            <a:ext cx="2085668" cy="30288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&lt; 5 seconds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772150" y="1271588"/>
            <a:ext cx="2943225" cy="1760934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57875" y="1357313"/>
            <a:ext cx="27717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DISTINCTION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857875" y="1660922"/>
            <a:ext cx="2771775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This is the most important concept for architect buy-in. The system is NOT an agent. It has no planning, no tool selection, no autonomous decision-making. It is a fixed 2-step feedback loop: Evaluate → (conditionally) Refine.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772150" y="3075384"/>
            <a:ext cx="2943225" cy="1589484"/>
          </a:xfrm>
          <a:prstGeom prst="rect">
            <a:avLst/>
          </a:prstGeom>
          <a:solidFill>
            <a:srgbClr val="E63946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57875" y="3161109"/>
            <a:ext cx="27717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CRITICAL DEFENSE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857875" y="3464719"/>
            <a:ext cx="277177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Research (Huang et al., ICLR 2024) </a:t>
            </a:r>
            <a:r>
              <a:rPr lang="en-US" sz="8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proves LLMs cannot self-correct </a:t>
            </a:r>
            <a:r>
              <a:rPr lang="en-US" sz="8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blindly. But our system uses </a:t>
            </a:r>
            <a:r>
              <a:rPr lang="en-US" sz="80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EXTERNAL feedback</a:t>
            </a:r>
            <a:r>
              <a:rPr lang="en-US" sz="8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(a different model + ground </a:t>
            </a:r>
            <a:r>
              <a:rPr lang="en-US" sz="8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truth rubric). This is the pattern </a:t>
            </a:r>
            <a:r>
              <a:rPr lang="en-US" sz="8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that works.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8713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FEDAI EVOLVES FROM A SCORECARD INTO A SELF-IMPROVING RELIABILITY ENGINE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8625" y="1271588"/>
            <a:ext cx="3671888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MATURITY ROADMAP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8625" y="1601986"/>
            <a:ext cx="3671888" cy="702208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0063" y="1673423"/>
            <a:ext cx="35290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64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LEVEL 1: NO EVALUATION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0063" y="1855589"/>
            <a:ext cx="35290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Single-pass LLM, no quality checks, ~60-70% accuracy.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8625" y="2304194"/>
            <a:ext cx="3671888" cy="702208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063" y="2375632"/>
            <a:ext cx="35290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64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LEVEL 2: PASSIVE EVALUATION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0063" y="2557797"/>
            <a:ext cx="35290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FedAI Today: vllm_judge scores output, detects failures offline.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8625" y="3006403"/>
            <a:ext cx="3671888" cy="702208"/>
          </a:xfrm>
          <a:prstGeom prst="rect">
            <a:avLst/>
          </a:prstGeom>
          <a:solidFill>
            <a:srgbClr val="0B0C10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063" y="3077840"/>
            <a:ext cx="35290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LEVEL 3: ACTIVE REFLECTION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0063" y="3260006"/>
            <a:ext cx="35290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This Proposal: vllm_judge drives real-time correction, bounded 1-retry loop, ~95% accuracy.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8625" y="3708611"/>
            <a:ext cx="3671888" cy="862217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0063" y="3780048"/>
            <a:ext cx="35290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64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LEVEL 4: CONTINUOUS LEARNING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0063" y="3962214"/>
            <a:ext cx="3529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Future: Golden Dataset evolves continuously — production failures become new test cases, versioned with DVC.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00625" y="1271588"/>
            <a:ext cx="371475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CALL TO ACTION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00625" y="1630561"/>
            <a:ext cx="3714750" cy="1010841"/>
          </a:xfrm>
          <a:prstGeom prst="rect">
            <a:avLst/>
          </a:prstGeom>
          <a:solidFill>
            <a:srgbClr val="E8ECEF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86350" y="1716286"/>
            <a:ext cx="35433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FOR DATA SCIENTISTS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86350" y="1955602"/>
            <a:ext cx="3543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Start building domain-specific Golden Datasets for your use cases today. Define what "good" looks like.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000625" y="2641402"/>
            <a:ext cx="3714750" cy="1010841"/>
          </a:xfrm>
          <a:prstGeom prst="rect">
            <a:avLst/>
          </a:prstGeom>
          <a:solidFill>
            <a:srgbClr val="E8ECEF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86350" y="2727127"/>
            <a:ext cx="35433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FOR ARCHITECTS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86350" y="2966442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Adopt this bounded, deterministic, and production-proven pattern (AWS, O'Reilly, Anthropic).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00625" y="3480792"/>
            <a:ext cx="3714750" cy="839391"/>
          </a:xfrm>
          <a:prstGeom prst="rect">
            <a:avLst/>
          </a:prstGeom>
          <a:solidFill>
            <a:srgbClr val="E8ECEF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86350" y="3566517"/>
            <a:ext cx="35433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FOR EXECUTIVES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86350" y="3805833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Reduce the "unreliability tax" — the hidden cost of bad AI answers reaching customers.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69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04044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APPENDIX A1: ARCHITECT Q&amp;A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805793"/>
            <a:ext cx="82867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ADDRESSING PATTERN VIABILITY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8625" y="1175482"/>
            <a:ext cx="2628900" cy="3968018"/>
          </a:xfrm>
          <a:prstGeom prst="rect">
            <a:avLst/>
          </a:prstGeom>
          <a:solidFill>
            <a:srgbClr val="0B0C10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261207"/>
            <a:ext cx="2457450" cy="5800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"ISN'T REFLECTION JUST AN AGENT LOOP?"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4350" y="1934115"/>
            <a:ext cx="692051" cy="21143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7"/>
          <p:cNvSpPr/>
          <p:nvPr/>
        </p:nvSpPr>
        <p:spPr>
          <a:xfrm>
            <a:off x="514350" y="1934115"/>
            <a:ext cx="692051" cy="2114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BLUF: NO.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4350" y="2401277"/>
            <a:ext cx="165020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 agent has autonomy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14350" y="2606994"/>
            <a:ext cx="20431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(planning, tool selection,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14350" y="2812712"/>
            <a:ext cx="23574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unbounded execution). This is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14350" y="2812712"/>
            <a:ext cx="2436019" cy="396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bounded feedback control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4350" y="3018430"/>
            <a:ext cx="2278856" cy="396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loop with no autonomy —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14350" y="3429865"/>
            <a:ext cx="23574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architecturally equivalent to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14350" y="3429865"/>
            <a:ext cx="2436019" cy="396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retry-with-feedback pattern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14350" y="3635583"/>
            <a:ext cx="2357438" cy="396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 traditional software.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57550" y="1175482"/>
            <a:ext cx="2628900" cy="3968018"/>
          </a:xfrm>
          <a:prstGeom prst="rect">
            <a:avLst/>
          </a:prstGeom>
          <a:solidFill>
            <a:srgbClr val="0B0C10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43275" y="1261207"/>
            <a:ext cx="2457450" cy="8200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"WHY COMPARE REFLECTION WITH RAG EVALUATIONS?"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43275" y="2174128"/>
            <a:ext cx="1809769" cy="21143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19"/>
          <p:cNvSpPr/>
          <p:nvPr/>
        </p:nvSpPr>
        <p:spPr>
          <a:xfrm>
            <a:off x="3343275" y="2174128"/>
            <a:ext cx="1809769" cy="2114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BLUF: DIAGNOSTIC VS. CURE.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343275" y="2641290"/>
            <a:ext cx="212169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RAG eval tells us WHERE the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343275" y="2847008"/>
            <a:ext cx="227885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pipeline failed (retrieval vs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343275" y="3052725"/>
            <a:ext cx="227885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generation). Reflection fixes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343275" y="3258443"/>
            <a:ext cx="180736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generation failures. If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343275" y="3464161"/>
            <a:ext cx="20431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retrieval fails (recall &lt;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343275" y="3464161"/>
            <a:ext cx="2436019" cy="396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40%), reflection cannot help —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343275" y="3669878"/>
            <a:ext cx="2200275" cy="396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fix the retriever first.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086475" y="1175482"/>
            <a:ext cx="2628900" cy="3968018"/>
          </a:xfrm>
          <a:prstGeom prst="rect">
            <a:avLst/>
          </a:prstGeom>
          <a:solidFill>
            <a:srgbClr val="0B0C10"/>
          </a:solidFill>
          <a:ln w="45720">
            <a:solidFill>
              <a:srgbClr val="E6394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72200" y="1261207"/>
            <a:ext cx="2457450" cy="5800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"HOW DO YOU HANDLE LATENCY?"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172200" y="1934115"/>
            <a:ext cx="1602153" cy="21143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3" name="Text 30"/>
          <p:cNvSpPr/>
          <p:nvPr/>
        </p:nvSpPr>
        <p:spPr>
          <a:xfrm>
            <a:off x="6172200" y="1934115"/>
            <a:ext cx="1602153" cy="2114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BLUF: ROUTING PATTERN.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172200" y="2401277"/>
            <a:ext cx="23574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70-90% of queries pass without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172200" y="2606994"/>
            <a:ext cx="22002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reflection. Only low-scoring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72200" y="2812712"/>
            <a:ext cx="22002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outputs (10-30%) trigger one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172200" y="3018430"/>
            <a:ext cx="196453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additional inference call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3224147"/>
            <a:ext cx="188595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(~800ms-2s). The average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72200" y="3429865"/>
            <a:ext cx="20431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latency impact is minimal.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00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77230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TECHNICAL Q&amp;A — IMPLEMENTATION DETAILS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948668"/>
            <a:ext cx="8286750" cy="1453753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948668"/>
            <a:ext cx="8286750" cy="339328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948668"/>
            <a:ext cx="8286750" cy="339328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Q: "RESEARCH SHOWS LLMS GET WORSE WHEN SELF-CORRECTING. WHY DO THIS?"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0063" y="1359433"/>
            <a:ext cx="8143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BLUF: That research (Huang et al.) applies to INTRINSIC self-correction (same model, no external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0063" y="1609465"/>
            <a:ext cx="8143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signal).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0063" y="1859496"/>
            <a:ext cx="793670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 use EXTERNAL feedback: a different model (vllm_judge) + ground truth (Golden Dataset). This is the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0063" y="2052377"/>
            <a:ext cx="715089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pattern that works — GPT-4 accuracy went from 95.5% to 97.5% with oracle-guided correction.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8625" y="2388133"/>
            <a:ext cx="8286750" cy="1203722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8625" y="2388133"/>
            <a:ext cx="8286750" cy="339328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15" name="Text 12"/>
          <p:cNvSpPr/>
          <p:nvPr/>
        </p:nvSpPr>
        <p:spPr>
          <a:xfrm>
            <a:off x="428625" y="2388133"/>
            <a:ext cx="8286750" cy="339328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Q: "HOW DO WE PREVENT OVER-CORRECTION?"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0063" y="2798899"/>
            <a:ext cx="8143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BLUF: Accept-Only-If-Better gate.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0063" y="3048930"/>
            <a:ext cx="793670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refined output is re-evaluated. If the new score is lower, we reject the refinement and serve the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0063" y="3241811"/>
            <a:ext cx="636508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original. We track Over-Correction Rate as a system health metric (target: &lt; 5%).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8625" y="3577568"/>
            <a:ext cx="8286750" cy="1110853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8625" y="3577568"/>
            <a:ext cx="8286750" cy="339328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3577568"/>
            <a:ext cx="8286750" cy="339328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Q: "WHAT METRICS PROVE THIS WORKS?"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0063" y="3988333"/>
            <a:ext cx="1560184" cy="542925"/>
          </a:xfrm>
          <a:prstGeom prst="rect">
            <a:avLst/>
          </a:prstGeom>
          <a:solidFill>
            <a:srgbClr val="2F364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0063" y="3988333"/>
            <a:ext cx="1560184" cy="542925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Pre/Post Quality Delta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145971" y="3988333"/>
            <a:ext cx="1560184" cy="542925"/>
          </a:xfrm>
          <a:prstGeom prst="rect">
            <a:avLst/>
          </a:prstGeom>
          <a:solidFill>
            <a:srgbClr val="2F364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45971" y="3988333"/>
            <a:ext cx="1560184" cy="542925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Over-Correction Rate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791880" y="3988333"/>
            <a:ext cx="1560212" cy="542925"/>
          </a:xfrm>
          <a:prstGeom prst="rect">
            <a:avLst/>
          </a:prstGeom>
          <a:solidFill>
            <a:srgbClr val="2F364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91880" y="3988333"/>
            <a:ext cx="1560212" cy="542925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Reflection Trigger Rate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437817" y="3988333"/>
            <a:ext cx="1560184" cy="542925"/>
          </a:xfrm>
          <a:prstGeom prst="rect">
            <a:avLst/>
          </a:prstGeom>
          <a:solidFill>
            <a:srgbClr val="2F364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37817" y="3988333"/>
            <a:ext cx="1560184" cy="542925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Cost-per-Improvement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083726" y="3988333"/>
            <a:ext cx="1560184" cy="485775"/>
          </a:xfrm>
          <a:prstGeom prst="rect">
            <a:avLst/>
          </a:prstGeom>
          <a:solidFill>
            <a:srgbClr val="2F3640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83726" y="3988333"/>
            <a:ext cx="1560184" cy="485775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Latency P95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57188"/>
            <a:ext cx="82867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APPENDIX A3: EXECUTIVE Q&amp;A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805793"/>
            <a:ext cx="82867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BUSINESS Q&amp;A — COST, RISK &amp; ROI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8625" y="1285875"/>
            <a:ext cx="2595553" cy="3286125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7219" y="1464469"/>
            <a:ext cx="2238366" cy="785813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"ISN'T THIS DOUBLING OUR API COSTS?"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7219" y="2357438"/>
            <a:ext cx="1825842" cy="228600"/>
          </a:xfrm>
          <a:prstGeom prst="rect">
            <a:avLst/>
          </a:prstGeom>
          <a:solidFill>
            <a:srgbClr val="E63946"/>
          </a:solidFill>
          <a:ln w="18288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7219" y="2357438"/>
            <a:ext cx="1825842" cy="22860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BLUF: AVERAGE COST IS 1.3X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7219" y="2628900"/>
            <a:ext cx="165020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Only 10-30% of queries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7219" y="2811066"/>
            <a:ext cx="172521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trigger reflection. The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7219" y="2993231"/>
            <a:ext cx="157519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evaluation model is 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7219" y="3175397"/>
            <a:ext cx="172521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smaller, cheaper model.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7219" y="3357563"/>
            <a:ext cx="195024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Compare this 1.3x cost to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7219" y="3357563"/>
            <a:ext cx="2175272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business impact of one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7219" y="3721894"/>
            <a:ext cx="195024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compliance incident or one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7219" y="3904059"/>
            <a:ext cx="165020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lost customer due to 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7219" y="4086225"/>
            <a:ext cx="150018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hallucinated answer.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74209" y="1285875"/>
            <a:ext cx="2595553" cy="3286125"/>
          </a:xfrm>
          <a:prstGeom prst="rect">
            <a:avLst/>
          </a:prstGeom>
          <a:solidFill>
            <a:srgbClr val="E63946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2803" y="1464469"/>
            <a:ext cx="2238366" cy="525066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"WHO ELSE DOES THIS IN PRODUCTION?"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52803" y="2096691"/>
            <a:ext cx="1554659" cy="228600"/>
          </a:xfrm>
          <a:prstGeom prst="rect">
            <a:avLst/>
          </a:prstGeom>
          <a:solidFill>
            <a:srgbClr val="0B0C10"/>
          </a:solidFill>
          <a:ln w="18288">
            <a:solidFill>
              <a:srgbClr val="0B0C1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52803" y="2096691"/>
            <a:ext cx="1554659" cy="22860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BLUF: PROVEN PATTERN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452803" y="2468166"/>
            <a:ext cx="2238366" cy="36433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Zalando:</a:t>
            </a:r>
            <a:r>
              <a:rPr lang="en-US" sz="9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Marketing content localization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52803" y="2903934"/>
            <a:ext cx="2238366" cy="36433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AWS:</a:t>
            </a:r>
            <a:r>
              <a:rPr lang="en-US" sz="9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Official prescriptive guidance pattern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52803" y="3339703"/>
            <a:ext cx="2238366" cy="36433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Anthropic:</a:t>
            </a:r>
            <a:r>
              <a:rPr lang="en-US" sz="9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Evaluator-Optimizer pattern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452803" y="3775472"/>
            <a:ext cx="2238366" cy="54649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O'Reilly:</a:t>
            </a:r>
            <a:r>
              <a:rPr lang="en-US" sz="9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Codified as Pattern 17+18 in Generative AI Design Patterns (2025)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19794" y="1285875"/>
            <a:ext cx="2595581" cy="3286125"/>
          </a:xfrm>
          <a:prstGeom prst="rect">
            <a:avLst/>
          </a:prstGeom>
          <a:solidFill>
            <a:srgbClr val="E8ECEF"/>
          </a:solidFill>
          <a:ln w="45720">
            <a:solidFill>
              <a:srgbClr val="0B0C1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98388" y="1464469"/>
            <a:ext cx="2238394" cy="510053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"WHAT'S THE TIMELINE AND CONFIDENCE?"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98388" y="2081678"/>
            <a:ext cx="1374670" cy="228600"/>
          </a:xfrm>
          <a:prstGeom prst="rect">
            <a:avLst/>
          </a:prstGeom>
          <a:solidFill>
            <a:srgbClr val="E63946"/>
          </a:solidFill>
          <a:ln w="18288">
            <a:solidFill>
              <a:srgbClr val="E6394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98388" y="2081678"/>
            <a:ext cx="1374670" cy="22860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BLUF: 2-4 MONTHS (M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298388" y="2353140"/>
            <a:ext cx="936613" cy="228600"/>
          </a:xfrm>
          <a:prstGeom prst="rect">
            <a:avLst/>
          </a:prstGeom>
          <a:solidFill>
            <a:srgbClr val="E63946"/>
          </a:solidFill>
          <a:ln w="18288">
            <a:solidFill>
              <a:srgbClr val="E6394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98388" y="2353140"/>
            <a:ext cx="936613" cy="22860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CONFIDENCE)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98388" y="2624603"/>
            <a:ext cx="165020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Level 3 implementation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298388" y="2806768"/>
            <a:ext cx="67508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requires: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98388" y="3060371"/>
            <a:ext cx="2238394" cy="54649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Golden Dataset curation (domain experts + data scientists)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298388" y="3678306"/>
            <a:ext cx="2238394" cy="36433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vllm_judge prompt calibration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298388" y="4114074"/>
            <a:ext cx="2238394" cy="18216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Threshold tuning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98388" y="4367678"/>
            <a:ext cx="2238394" cy="18216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Monitoring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9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54351"/>
            <a:ext cx="9144000" cy="42863"/>
          </a:xfrm>
          <a:prstGeom prst="rect">
            <a:avLst/>
          </a:prstGeom>
          <a:solidFill>
            <a:srgbClr val="0B0C1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0B0C1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APPENDIX A4: THE CODE PATTERN &amp; EVIDENCE BASE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28625" y="761507"/>
            <a:ext cx="43018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IMPLEMENTATION REFERENCE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8625" y="1011538"/>
            <a:ext cx="4301821" cy="1128713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1011538"/>
            <a:ext cx="4301821" cy="11287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1 - Generate: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Model A produces initial output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70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2 - Evaluate: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vllm_judge scores against Golden Dataset rubric 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(temp=0)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70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3 - Transform: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Convert critique into actionable instructions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70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4 - Regenerate: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Model A retries with original output + </a:t>
            </a:r>
            <a:r>
              <a:rPr lang="en-US" sz="75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instructions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28625" y="2168826"/>
            <a:ext cx="4301821" cy="1068549"/>
          </a:xfrm>
          <a:prstGeom prst="rect">
            <a:avLst/>
          </a:prstGeom>
          <a:solidFill>
            <a:srgbClr val="0B0C10"/>
          </a:solidFill>
          <a:ln w="27432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2168826"/>
            <a:ext cx="4301821" cy="106854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 Step 2: Evaluate with rubric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critique = evaluate_and_critique(output, 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rubric, golden_answer) </a:t>
            </a:r>
            <a:r>
              <a:rPr lang="en-US" sz="600" dirty="0">
                <a:solidFill>
                  <a:srgbClr val="8888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 Step 3: Transform critique to instructions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600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if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critique.score() &lt; threshold: instructions = generate_extra_instructions( 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critique.explanation) </a:t>
            </a:r>
            <a:r>
              <a:rPr lang="en-US" sz="600" dirty="0">
                <a:solidFill>
                  <a:srgbClr val="8888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 Step 4: Regenerate with feedback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refined = 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regenerate(original_output, instructions) </a:t>
            </a:r>
            <a:r>
              <a:rPr lang="en-US" sz="600" dirty="0">
                <a:solidFill>
                  <a:srgbClr val="8888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 Accept-Only-If-Better gate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refined_score = evaluate_and_critique( refined, rubric, golden_answer) final = 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refined </a:t>
            </a:r>
            <a:r>
              <a:rPr lang="en-US" sz="600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if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refined_score &gt; critique.score() \ </a:t>
            </a:r>
            <a:r>
              <a:rPr lang="en-US" sz="600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else</a:t>
            </a:r>
            <a:r>
              <a:rPr lang="en-US" sz="600" dirty="0">
                <a:solidFill>
                  <a:srgbClr val="E8ECE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output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201934" y="761507"/>
            <a:ext cx="365631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EVIDENCE BASE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01934" y="1011538"/>
            <a:ext cx="3656316" cy="3471863"/>
          </a:xfrm>
          <a:prstGeom prst="rect">
            <a:avLst/>
          </a:prstGeom>
          <a:solidFill>
            <a:srgbClr val="E8ECEF"/>
          </a:solidFill>
          <a:ln w="27432">
            <a:solidFill>
              <a:srgbClr val="0B0C1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09077" y="1018682"/>
            <a:ext cx="1516261" cy="244673"/>
          </a:xfrm>
          <a:prstGeom prst="rect">
            <a:avLst/>
          </a:prstGeom>
          <a:solidFill>
            <a:srgbClr val="0B0C10"/>
          </a:solidFill>
          <a:ln w="18288">
            <a:solidFill>
              <a:srgbClr val="0B0C1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09077" y="1018682"/>
            <a:ext cx="1516261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SOURCE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725338" y="1018682"/>
            <a:ext cx="2125768" cy="244673"/>
          </a:xfrm>
          <a:prstGeom prst="rect">
            <a:avLst/>
          </a:prstGeom>
          <a:solidFill>
            <a:srgbClr val="0B0C10"/>
          </a:solidFill>
          <a:ln w="18288">
            <a:solidFill>
              <a:srgbClr val="0B0C1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5338" y="1018682"/>
            <a:ext cx="2125768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CE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IT PROVES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209077" y="1249068"/>
            <a:ext cx="1516261" cy="5089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Kato (2026), arXiv:2606.20041v1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725338" y="1249068"/>
            <a:ext cx="2125768" cy="50899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Model-Grounded RAG with audit lineage outperforms RAG-only in bank stress testing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209077" y="1758060"/>
            <a:ext cx="1516261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O'Reilly: Generative AI Design Patterns (2025)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725338" y="1758060"/>
            <a:ext cx="2125768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Reflection is a Reliability Pattern (Pattern 18), not experimental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209077" y="2140251"/>
            <a:ext cx="1516261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O'Reilly: Hands-On RAG for Production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725338" y="2140251"/>
            <a:ext cx="2125768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RAG evaluation is a business risk without structured measurement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209077" y="2522441"/>
            <a:ext cx="1516261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Huang et al., ICLR 2024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6725338" y="2522441"/>
            <a:ext cx="2125768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Self-correction fails without external feedback; works WITH it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209077" y="2904632"/>
            <a:ext cx="1516261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Self-RAG, ICLR 2024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725338" y="2904632"/>
            <a:ext cx="2125768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Reflection is a native RAG pattern, not just agentic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209077" y="3286823"/>
            <a:ext cx="1516261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AWS Prescriptive Guidance (2025)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725338" y="3286823"/>
            <a:ext cx="2125768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Evaluator Reflect-Refine Loop is an official production pattern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209077" y="3669013"/>
            <a:ext cx="1516261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Andrew Ng, DeepLearning.AI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6725338" y="3669013"/>
            <a:ext cx="2125768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Reflection with external feedback achieves highest ROI curve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209077" y="4051204"/>
            <a:ext cx="1516261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E6394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Zalando (arXiv:2510.20653, 2025)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6725338" y="4051204"/>
            <a:ext cx="2125768" cy="3821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F364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Production deployment proves 1 reflection round improves quality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2026-07-04T20:29:39Z</dcterms:created>
  <dcterms:modified xsi:type="dcterms:W3CDTF">2026-07-04T20:29:39Z</dcterms:modified>
</cp:coreProperties>
</file>