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512229"/>
            <a:ext cx="6429375" cy="2197317"/>
          </a:xfrm>
          <a:prstGeom prst="rect">
            <a:avLst/>
          </a:prstGeom>
          <a:solidFill>
            <a:srgbClr val="FFFFFF"/>
          </a:solidFill>
          <a:ln w="18288">
            <a:solidFill>
              <a:srgbClr val="7B1FA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643063" y="819410"/>
            <a:ext cx="5857875" cy="14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CONFIG-DRIVEN DVC &amp; KUBEFLOW PIPELINE INTEGRATION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2786063" y="2902427"/>
            <a:ext cx="5000625" cy="1493044"/>
          </a:xfrm>
          <a:prstGeom prst="rect">
            <a:avLst/>
          </a:prstGeom>
          <a:solidFill>
            <a:srgbClr val="7B1FA2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71813" y="3209609"/>
            <a:ext cx="4429125" cy="592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1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Establishing End-to-End Reproducible Execution Lineage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71813" y="3873977"/>
            <a:ext cx="4429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C6FF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MLOPS ENGINEERING | DATA SCIENCE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900113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428625"/>
            <a:ext cx="8143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REPRODUCIBLE EXECUTION LINEAGE FROM GIT COMMIT → DVC ARTIFACTS → KUBEFLOW EXECUTION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428750"/>
            <a:ext cx="2781263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753791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063" y="2296716"/>
            <a:ext cx="23526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Automated Provisioning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0063" y="2609590"/>
            <a:ext cx="23526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The pipeline automatically provisions an isolated Git worktree, pulls DVC-managed data/artifacts from S3, and executes workflows reproducibly.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181313" y="1428750"/>
            <a:ext cx="2781319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25" y="1753791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95625" y="2296716"/>
            <a:ext cx="2352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Consistent &amp; Secure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395625" y="2609590"/>
            <a:ext cx="235269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All models and processes (Tune, Refit, Emulator) are executed consistently, securely, and without modifying the main workspace.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076931" y="1428750"/>
            <a:ext cx="2781319" cy="3214688"/>
          </a:xfrm>
          <a:prstGeom prst="rect">
            <a:avLst/>
          </a:prstGeom>
          <a:solidFill>
            <a:srgbClr val="7B1FA2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244" y="1753791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91244" y="2296716"/>
            <a:ext cx="2352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91244" y="2609590"/>
            <a:ext cx="235269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This architecture moves us firmly out of the Proof of Concept (POC) phase into a robust, production-ready framework.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69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428625"/>
            <a:ext cx="81438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SCALING REPRODUCIBLE ML WORKFLOWS REQUIRES STANDARDIZED EXECUTION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414463"/>
            <a:ext cx="4229100" cy="4026173"/>
          </a:xfrm>
          <a:prstGeom prst="rect">
            <a:avLst/>
          </a:prstGeom>
          <a:solidFill>
            <a:srgbClr val="4A148C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2379538"/>
            <a:ext cx="428625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063" y="3058195"/>
            <a:ext cx="38004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Current State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0063" y="3439660"/>
            <a:ext cx="38004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DVC adoption is complete. Our data, artifacts, and pipeline stages are effectively managed and reliably pushed to S3.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0063" y="4096885"/>
            <a:ext cx="38004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However, scaling workflows like Tune, Refit, and Emulator exposes the limitations of our execution mechanisms.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29150" y="1414463"/>
            <a:ext cx="4229100" cy="1955936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63" y="1718072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3463" y="2157413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Workspace Conflicts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843463" y="2470286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Without a standardized execution mechanism, reproducibility is severely limited and workspace conflicts arise when multiple developers operate simultaneously.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29150" y="3441836"/>
            <a:ext cx="4229100" cy="1913074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852602"/>
            <a:ext cx="285750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3463" y="4291943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Compliance &amp; Lineage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43463" y="4604817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End-to-end lineage—required for rigorous auditing and compliance—cannot be guaranteed without a systematic, config-driven automation approach.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82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428625"/>
            <a:ext cx="81438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SINGLE YAML CONFIG DRIVES THE ENTIRE PIPELINE EXECUTION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414463"/>
            <a:ext cx="4229100" cy="1912348"/>
          </a:xfrm>
          <a:prstGeom prst="rect">
            <a:avLst/>
          </a:prstGeom>
          <a:solidFill>
            <a:srgbClr val="7B1FA2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843088"/>
            <a:ext cx="192881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063" y="2250281"/>
            <a:ext cx="3800475" cy="2228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Configuration-Driven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00063" y="2544570"/>
            <a:ext cx="4536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Submit a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953691" y="2566002"/>
            <a:ext cx="1628831" cy="203597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953691" y="2566002"/>
            <a:ext cx="1628831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pipeline-config.yaml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582521" y="2544570"/>
            <a:ext cx="14108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specifying the target branch,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00063" y="2766027"/>
            <a:ext cx="36897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Conda environment, and DVC stages. No manual environment setup required.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29150" y="1414463"/>
            <a:ext cx="4229100" cy="1912348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63" y="1710928"/>
            <a:ext cx="321469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3463" y="2118122"/>
            <a:ext cx="3800475" cy="2228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Automated Orchestration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3463" y="2412411"/>
            <a:ext cx="34361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Kubeflow automatically creates an isolated Git worktree, configures the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843463" y="2626723"/>
            <a:ext cx="32111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environment, pulls DVC artifacts from S3, and executes stages via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43463" y="2648155"/>
            <a:ext cx="3485480" cy="425053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4843463" y="2648155"/>
            <a:ext cx="3485480" cy="425053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A148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dvc repro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272143" y="2848180"/>
            <a:ext cx="250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85750" y="3398248"/>
            <a:ext cx="4229100" cy="1869486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3809014"/>
            <a:ext cx="192881" cy="2571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0063" y="4216208"/>
            <a:ext cx="3800475" cy="2228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Full Auditability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0063" y="4510497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Repository state is captured before and after execution, ensuring complete traceability and compliance for every model run.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629150" y="3398248"/>
            <a:ext cx="4229100" cy="1869486"/>
          </a:xfrm>
          <a:prstGeom prst="rect">
            <a:avLst/>
          </a:prstGeom>
          <a:solidFill>
            <a:srgbClr val="C6FF00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3" y="3809014"/>
            <a:ext cx="257175" cy="2571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3463" y="4216208"/>
            <a:ext cx="3800475" cy="2228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Tool-Agnostic Architecture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843463" y="4510497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Focused on core data science user stories rather than platform-specific features, ensuring long-term adaptability to future tooling changes.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428625"/>
            <a:ext cx="81438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FOUR CAPABILITIES THAT ENABLE PRODUCTION-READY ML EXECUTION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343025"/>
            <a:ext cx="4229100" cy="1920218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668066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063" y="2107406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Automated Data Retrieval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0063" y="2384561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Automatically executes </a:t>
            </a:r>
            <a:r>
              <a:rPr lang="en-US" sz="1000" b="1" dirty="0">
                <a:solidFill>
                  <a:srgbClr val="7B1FA2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dvc pull</a:t>
            </a: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 to fetch required assets from S3 prior to </a:t>
            </a: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execution, ensuring the right data is always available without manual </a:t>
            </a: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intervention.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29150" y="1343025"/>
            <a:ext cx="4229100" cy="1920218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63" y="1775222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3463" y="2214563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Isolated Execution Environments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843463" y="2491718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Uses </a:t>
            </a:r>
            <a:r>
              <a:rPr lang="en-US" sz="1000" b="1" dirty="0">
                <a:solidFill>
                  <a:srgbClr val="7B1FA2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git worktree</a:t>
            </a: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 to create detached, branch-specific workspaces for </a:t>
            </a: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every run, preventing conflicts and maintaining a clean main workspace.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85750" y="3377543"/>
            <a:ext cx="4229100" cy="1920218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3638290"/>
            <a:ext cx="250031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0063" y="4077630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E2E Lineage Tracking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0063" y="4354785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Executes from an isolated Git worktree created from a specified branch/commit and captures repository state for complete auditability and governance.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29150" y="3334680"/>
            <a:ext cx="4229100" cy="187735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3" y="374544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43463" y="4184786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Tool-Agnostic Design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843463" y="4461942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Focuses on core data science user stories, ensuring the architecture remains flexible and can seamlessly adapt to future tooling changes.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61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428625"/>
            <a:ext cx="81438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WORKSPACE INDEPENDENCE, REPRODUCIBILITY, AND LINEAGE AT SCALE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414463"/>
            <a:ext cx="2781263" cy="168938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1675209"/>
            <a:ext cx="321469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44" y="2082403"/>
            <a:ext cx="2424075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Workspace Independence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4344" y="2342424"/>
            <a:ext cx="2424075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Eliminates dependency on local workspace modifications by executing from Git- and DVC-managed sources.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181313" y="1414463"/>
            <a:ext cx="2781319" cy="168938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07" y="1675209"/>
            <a:ext cx="257175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59907" y="2082403"/>
            <a:ext cx="2424131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Improved Reproducibility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359907" y="2342424"/>
            <a:ext cx="2424131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Every run executes from a controlled Git revision, Conda environment, and DVC state, eliminating "it works on my machine".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076931" y="1414463"/>
            <a:ext cx="2781319" cy="168938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525" y="1675209"/>
            <a:ext cx="289322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55525" y="2082403"/>
            <a:ext cx="2424131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Enhanced Productivity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255525" y="2342424"/>
            <a:ext cx="2424131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Data scientists submit a config and Kubeflow handles orchestration—environment, data retrieval, and execution are automated.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285750" y="3175285"/>
            <a:ext cx="5676881" cy="1646523"/>
          </a:xfrm>
          <a:prstGeom prst="rect">
            <a:avLst/>
          </a:prstGeom>
          <a:solidFill>
            <a:srgbClr val="7B1FA2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4" y="3848528"/>
            <a:ext cx="267891" cy="3571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0828" y="3651349"/>
            <a:ext cx="4873210" cy="2228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Auditability &amp; Governance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910828" y="3945638"/>
            <a:ext cx="48732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Traceable lineage from Git source → DVC artifacts → Kubeflow execution ensures rigorous compliance and model governance.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6076931" y="3175285"/>
            <a:ext cx="2781319" cy="1646523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525" y="3436032"/>
            <a:ext cx="321469" cy="2571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255525" y="3843226"/>
            <a:ext cx="2424131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255525" y="4103247"/>
            <a:ext cx="242413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Supports concurrent runs across different historical branches without impacting the main repository.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285750"/>
            <a:ext cx="8858250" cy="821531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57188" y="428625"/>
            <a:ext cx="8429625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1" kern="0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SEVEN AUTOMATED STEPS FROM CONFIG SUBMISSION TO CLEAN EXECUTION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2875" y="1350169"/>
            <a:ext cx="2150269" cy="155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1435894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1821656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LOAD CONFIG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" y="2035969"/>
            <a:ext cx="1978819" cy="561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User submits </a:t>
            </a:r>
            <a:r>
              <a:rPr lang="en-US" sz="900" b="1" dirty="0">
                <a:solidFill>
                  <a:srgbClr val="7B1FA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pipeline-</a:t>
            </a:r>
            <a:r>
              <a:rPr lang="en-US" sz="900" b="1" dirty="0">
                <a:solidFill>
                  <a:srgbClr val="7B1FA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config.yaml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 specifying the target 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branch, Conda environment, and DVC 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stages.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78869" y="1350169"/>
            <a:ext cx="2150269" cy="135435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4594" y="1435894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64594" y="1821656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64594" y="2035969"/>
            <a:ext cx="197881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Kubeflow securely retrieves necessary credentials (Git, SAS) directly from Kubernetes secrets.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4863" y="1350169"/>
            <a:ext cx="2150269" cy="135435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0588" y="1435894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700588" y="1821656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ISOLATE WORKSPACE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00588" y="2035969"/>
            <a:ext cx="197881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A temporary, detached Git worktree is created for the target branch to ensure the main workspace remains untouched.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0856" y="1350169"/>
            <a:ext cx="2150269" cy="135435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6581" y="1435894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936581" y="1821656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SETUP ENVIRONMENT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36581" y="2035969"/>
            <a:ext cx="197881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The designated Conda environment is activated, and shared DVC cache settings are applied to optimize storage.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42875" y="2768817"/>
            <a:ext cx="2150269" cy="1375786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" y="2854542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228600" y="3240305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DATA HYDRATION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" y="3454617"/>
            <a:ext cx="1978819" cy="561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The pipeline automatically runs </a:t>
            </a:r>
            <a:r>
              <a:rPr lang="en-US" sz="900" b="1" dirty="0">
                <a:solidFill>
                  <a:srgbClr val="7B1FA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dvc </a:t>
            </a:r>
            <a:r>
              <a:rPr lang="en-US" sz="900" b="1" dirty="0">
                <a:solidFill>
                  <a:srgbClr val="7B1FA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pull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 to retrieve the exact required data 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and artifacts from S3.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378869" y="2768817"/>
            <a:ext cx="2150269" cy="1365070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64594" y="2854542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2464594" y="3240305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EXECUTE &amp; LINEAGE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464594" y="3454617"/>
            <a:ext cx="1978819" cy="550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Stages are executed via </a:t>
            </a:r>
            <a:r>
              <a:rPr lang="en-US" sz="900" b="1" dirty="0">
                <a:solidFill>
                  <a:srgbClr val="7B1FA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dvc repro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. 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The repository state is captured before and </a:t>
            </a: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after for full auditability.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4863" y="2768817"/>
            <a:ext cx="2150269" cy="135435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0588" y="2854542"/>
            <a:ext cx="1978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4700588" y="3240305"/>
            <a:ext cx="19788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CLEANUP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00588" y="3454617"/>
            <a:ext cx="197881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Once complete, the temporary worktree is optionally removed, leaving a clean environment for the next run.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850856" y="2768817"/>
            <a:ext cx="2150269" cy="1351508"/>
          </a:xfrm>
          <a:prstGeom prst="rect">
            <a:avLst/>
          </a:prstGeom>
          <a:solidFill>
            <a:srgbClr val="7B1FA2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05" y="2877369"/>
            <a:ext cx="200025" cy="20002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852767" y="2877369"/>
            <a:ext cx="4179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E2E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7170539" y="3117354"/>
            <a:ext cx="15109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C6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6936581" y="3403774"/>
            <a:ext cx="197881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Fully reproducible, branch-isolated execution with zero manual intervention.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192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063" y="428625"/>
            <a:ext cx="81438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PRODUCTION-READY TODAY, ADAPTABLE FOR TOMORROW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414463"/>
            <a:ext cx="4229100" cy="1880927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839516"/>
            <a:ext cx="289322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063" y="2246709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Exiting the POC Phase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0063" y="2523865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Directly addresses stakeholder feedback by establishing a robust, automated path to production, leaving manual Proof of Concept workflows behind.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29150" y="1414463"/>
            <a:ext cx="4229100" cy="1880927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63" y="1839516"/>
            <a:ext cx="289322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3463" y="2246709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Strategic Platform Selection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843463" y="2523865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Kubeflow (Q-flow) is selected for the short term due to its accessibility and ease of use compared to alternatives like SageMaker.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85750" y="3409690"/>
            <a:ext cx="4229100" cy="1880927"/>
          </a:xfrm>
          <a:prstGeom prst="rect">
            <a:avLst/>
          </a:prstGeom>
          <a:solidFill>
            <a:srgbClr val="FFFFFF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3834743"/>
            <a:ext cx="257175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0063" y="4241936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4A148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Tool-Agnostic Architecture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0063" y="4519092"/>
            <a:ext cx="3800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148C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The config-driven design ensures we remain flexible. If platform requirements change, the core execution logic easily adapts without massive rewrites.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29150" y="3409690"/>
            <a:ext cx="4229100" cy="1880927"/>
          </a:xfrm>
          <a:prstGeom prst="rect">
            <a:avLst/>
          </a:prstGeom>
          <a:solidFill>
            <a:srgbClr val="7B1FA2"/>
          </a:solidFill>
          <a:ln w="18288">
            <a:solidFill>
              <a:srgbClr val="4A148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3" y="3663293"/>
            <a:ext cx="321469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43463" y="4070486"/>
            <a:ext cx="38004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Focus on User Stories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843463" y="4347642"/>
            <a:ext cx="3800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swald Light" pitchFamily="34" charset="0"/>
                <a:ea typeface="Oswald Light" pitchFamily="34" charset="-122"/>
                <a:cs typeface="Oswald Light" pitchFamily="34" charset="-120"/>
              </a:rPr>
              <a:t>Our primary focus remains on solving core data science user stories—reproducibility and lineage—rather than getting locked into specific platform features.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2026-07-21T18:56:53Z</dcterms:created>
  <dcterms:modified xsi:type="dcterms:W3CDTF">2026-07-21T18:56:53Z</dcterms:modified>
</cp:coreProperties>
</file>